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TAF_h 全区 MAE 对比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MAE（越小越好）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A02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v3 GPR</c:v>
                  </c:pt>
                  <c:pt idx="1">
                    <c:v>v3 XGBoost</c:v>
                  </c:pt>
                  <c:pt idx="2">
                    <c:v>v2 DeepONet</c:v>
                  </c:pt>
                  <c:pt idx="3">
                    <c:v>v2 CNN</c:v>
                  </c:pt>
                  <c:pt idx="4">
                    <c:v>v2 LSTM</c:v>
                  </c:pt>
                  <c:pt idx="5">
                    <c:v>v2 Trans.</c:v>
                  </c:pt>
                  <c:pt idx="6">
                    <c:v>B2 Oracle</c:v>
                  </c:pt>
                  <c:pt idx="7">
                    <c:v>B3 插值</c:v>
                  </c:pt>
                  <c:pt idx="8">
                    <c:v>B1 全均值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0.0244</c:v>
                </c:pt>
                <c:pt idx="1">
                  <c:v>0.033</c:v>
                </c:pt>
                <c:pt idx="2">
                  <c:v>0.0506</c:v>
                </c:pt>
                <c:pt idx="3">
                  <c:v>0.0527</c:v>
                </c:pt>
                <c:pt idx="4">
                  <c:v>0.0544</c:v>
                </c:pt>
                <c:pt idx="5">
                  <c:v>0.0572</c:v>
                </c:pt>
                <c:pt idx="6">
                  <c:v>0.0469</c:v>
                </c:pt>
                <c:pt idx="7">
                  <c:v>0.0708</c:v>
                </c:pt>
                <c:pt idx="8">
                  <c:v>0.103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近期研究进展汇报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一、Abaqus 多地层坡地模型斜入射地震动数值模拟优化进展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0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二、单一均质坡地地震动放大因子机器学习代理模型研究推进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98448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1704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多地层坡地模型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5727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Abaqus 有限元 + 粘弹性人工边界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33172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32888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4048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参数化工况设计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8072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对齐 Shen 等 (2025) 论文，78 个仿真工况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56616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767328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6393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自由场引擎验证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04164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v6 物理自检：地表放大精确 2.0，应力误差 &lt;10⁻¹²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09728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298448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11704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机器学习代理模型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15727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从端到端深度学习到物理特征驱动经典 ML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33172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2532888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532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24048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v3 主要结果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28072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GPR R²=0.947，优于 GPU 深度模型，训练成本 CPU 秒级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566160"/>
            <a:ext cx="40233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767328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36393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下一步工作计划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404164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</a:rPr>
              <a:t>多地层仿真批量计算 + ML 数据扩充 + 论文写作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Abaqus 多地层坡地模型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斜入射地震动数值模拟优化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 Shen 等 (2025) · VAB v5 · 自由场引擎 v6 验证通过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I · 背景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研究背景：多地层斜坡地震动联合放大效应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参考文献：Shen 等 (2025) · 基岩 + 覆盖层二维平面应变模型 · 斜入射 SV 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269748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研究问题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地震波在斜坡地形中因几何聚焦、波型转换产生放大。地形放大（topography）与地层放大（stratigraphy）叠加时，规律更为复杂，需系统量化。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51560"/>
            <a:ext cx="2697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051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模型方法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46304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二维平面应变 FEM（Abaqus）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斜入射 SV 波（θ = 0°/15°）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粘弹性人工边界（VAB）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Ricker 脉冲波激励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51560"/>
            <a:ext cx="269748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515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研究指标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46304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TAF_h / TAF_v（地形放大因子）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= 坡面 PGA ÷ 平地 PGA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沿坡面无量纲坐标 x/h 分布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</a:rPr>
              <a:t>+ 峰值随无量纲频率 a₀ 变化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I · 工况设计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参数化工况设计（对齐 Shen 等 2025 论文）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均质覆盖层模型（A/B/C工况）+ 双层覆盖层模型（D工况），共 78 个独立工况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5120640" cy="256032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1828800"/>
                <a:gridCol w="5486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工况集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研究变量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固定参数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工况数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坡角 i = 30°/45°/60°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h/H=0.50, Vr/Vs=1.25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厚度比 h/H = 0.25/0.50/0.75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i=30°, Vr/Vs=1.25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阻抗比 Vr/Vs = 1.25/2.50/5.00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i=45°, h/H=0.50, a₀=2.0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 (双层)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地表层波速比 Vs1/Vs2、厚度比 h₁/(H-h)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i=45°, h/H=0.50, Vr/Vs2=2.5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24</a:t>
                      </a:r>
                      <a:endParaRPr lang="en-US" sz="105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760720" y="1097280"/>
            <a:ext cx="141732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1170432"/>
            <a:ext cx="1417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78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760720" y="1591056"/>
            <a:ext cx="1417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独立仿真工况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15200" y="1097280"/>
            <a:ext cx="141732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0" y="1170432"/>
            <a:ext cx="1417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315200" y="1591056"/>
            <a:ext cx="1417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入射角度(0°/15°)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760720" y="2103120"/>
            <a:ext cx="1417320" cy="822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60720" y="2176272"/>
            <a:ext cx="1417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200m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760720" y="2596896"/>
            <a:ext cx="1417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坡高 H-h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15200" y="2103120"/>
            <a:ext cx="141732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0" y="2176272"/>
            <a:ext cx="1417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315200" y="2596896"/>
            <a:ext cx="14173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地震波入射类型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760720" y="3063240"/>
            <a:ext cx="2971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60720" y="3063240"/>
            <a:ext cx="297180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3063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输入波参数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852160" y="33832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Ricker SV 波，无量纲频率 a₀ = 0.5 / 1.0 / 1.5 / 2.0
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基岩 Vr = 2000 m/s；覆盖层 Vs = 400~1600 m/s
</a:t>
            </a:r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密度 ρ = 2500 kg/m³，泊松比 ν = 0.3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07080"/>
                </a:solidFill>
              </a:rPr>
              <a:t>▲ 均质模型各工况仿真已完成；后处理脚本（TAF分布图、峰值曲线、箱线图、FAS频谱图）已开发就绪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I · 模型更新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核心更新：多地层模型 VAB v5 ——四项物理对齐改进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最新提交：2026-06-09 | 对应脚本：VAB_oblique_TAF_multilayer_v5.py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64008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① 自由场层内材料一致化（最高优先级）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157276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</a:rPr>
              <a:t>v4 对所有边界节点的面力均使用基岩参数计算，与已按本层取值的弹簧/阻尼系数自相矛盾。软表层 Vs₁=400 m/s 的侧边节点面力被高估约 5×。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</a:rPr>
              <a:t>v5 修正：侧边节点改用本层 cs / cp / ρ 计算等效节点力，使三项（弹簧 + 阻尼 + 面力）口径一致。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64008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② 网格自适应（Kuhlemeyer-Lysmer 准则）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19472" y="157276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</a:rPr>
              <a:t>新增 mesh_cfg 配置块与 _max_element_size() 函数，自动计算单元最大尺寸：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</a:rPr>
              <a:t>Δl ≤ cs_min / (10 × fmax)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</a:rPr>
              <a:t>例：Vs₁=400 m/s @ 8Hz → Δl ≤ 2 m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</a:rPr>
              <a:t>可通过 case_config.json 注入覆盖。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65760" y="309067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90672"/>
            <a:ext cx="64008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182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③ 时间步充分性校验护栏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30352" y="35661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</a:rPr>
              <a:t>新增 time_cfg 配置块；加载输入波后自动验证每周期采样数是否满足最低要求。当前 dt=1e-3 均达标，不触发重采样。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754880" y="309067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090672"/>
            <a:ext cx="64008" cy="1828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182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</a:rPr>
              <a:t>④ 已知局限文档化 + 可注入参数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19472" y="35661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</a:rPr>
              <a:t>明确列出已知近似：Rayleigh 阻尼无法分离 Qp/Qs；界面 SV↔P 转换系数取射线近似；CPE4 线性单元 vs. SPECFEM2D 谱元高阶。MAX_REFLECT_ORDER 可通过 case_config.json 注入。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I · 验证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自由场引擎 v6 验证：全部判据通过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脚本：freefield_selfcheck_v1.py（纯 Python 可跑，不依赖 Abaqus）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判据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物理预期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实测结果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状态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A1 垂直入射地表水平放大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2.0（自由面）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2.0000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✅ 通过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A2 垂直入射地表竖向/水平比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≈ 0（SV 纯水平）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~2×10⁻¹²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✅ 通过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A3 自由面应力 σ_yy / τ_xy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≈ 0（自由面条件）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~1×10⁻¹⁷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✅ 通过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内部 |τ_xy| / (ρ·cs·|v|) 量纲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O(1) 标度自洽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~2.6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✅ 通过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 斜入射 15° 自由面应力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≈ 0 / 全有限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~1×10⁻¹⁷ / True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✅ 通过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 速度基线校正残余漂移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≈ 0（朴素漂移 100%）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~1×10⁻¹⁶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✅ 通过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D2 右下角底边厚度一致性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修正后误差 = 0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（旧 v5 做法偏差 1.40）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0.0（✅ 修复）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✅ 通过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080"/>
                </a:solidFill>
              </a:rPr>
              <a:t>核心结论：地表放大精确 2.0 + 自由面应力 ≈ 0 + 阻抗量级 O(1) 三者共同佐证，等效节点力三项处于同一量纲与相位约定下，物理一致性已验证。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单一均质坡地地震动放大因子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机器学习代理模型研究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从端到端深度学习 (v2) → 物理特征驱动经典 ML (v3) · 报告版本 v3 · 2026-06-08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II · 问题定义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代理模型任务：以低维输入预测全场 TAF/PGA 曲线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输入：地形几何 + 波物理特征；输出：沿地表 161 点 × 4 通道响应曲线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34747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34747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输入特征（16 维）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46304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几何特征（5维）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坡高 h、坡角 i、入射角 θ
log(h)、tan(i)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波物理特征（11维）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Arias 强度、有效持时 D₅₋₉₅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卓越周期 Tp、平均周期 Tm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PGV、PGD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反应谱 Sa(T) × 5个周期点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（注：输入 PGA 为常数已剔除）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2606040"/>
            <a:ext cx="640080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423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7377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2880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377"/>
                </a:solidFill>
              </a:rPr>
              <a:t>ML 代理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输出（161 点 × 4 通道）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536192"/>
            <a:ext cx="59436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53619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PGA_h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水平峰值地面加速度分布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63840" y="1572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7A4A"/>
                </a:solidFill>
              </a:rPr>
              <a:t>R²=0.948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286000"/>
            <a:ext cx="59436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860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PGA_v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0" y="2322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竖向峰值地面加速度分布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0" y="23225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7A4A"/>
                </a:solidFill>
              </a:rPr>
              <a:t>R²=0.977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035808"/>
            <a:ext cx="59436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03580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TAF_h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水平地形放大因子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63840" y="30723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7A4A"/>
                </a:solidFill>
              </a:rPr>
              <a:t>R²=0.946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785616"/>
            <a:ext cx="594360" cy="548640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785616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TAF_v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0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竖向放大因子（物理病态，单独处理）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63840" y="3822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07080"/>
                </a:solidFill>
              </a:rPr>
              <a:t>—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4572000"/>
            <a:ext cx="4114800" cy="365760"/>
          </a:xfrm>
          <a:prstGeom prst="rect">
            <a:avLst/>
          </a:prstGeom>
          <a:solidFill>
            <a:srgbClr val="EAF4F4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599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</a:rPr>
              <a:t>数据集：5坡高 × 5坡角 × 7入射角 = 175工况（174有效）× 3地震波 = 522样本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II · v2 诊断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诊断：v2 端到端深度学习为何失败？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诊断结论驱动 v3 从根本改变方案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7" name="Image 0" descr="/sessions/friendly-youthful-davinci/mnt/AbqScripts/ML/outputs_v3/fig2_baseline_vs_v2dee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051560"/>
            <a:ext cx="4023360" cy="274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07080"/>
                </a:solidFill>
              </a:rPr>
              <a:t>图：傻瓜基线 vs. v2 全部深度模型（TAF_h MAE）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109728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097280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161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发现 1：地形是主角，波是配角（2.47×）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0352" y="14996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</a:rPr>
              <a:t>跨地形标准差 = 0.129；跨波标准差 = 0.052，比值 2.47。TAF_h 的变化主要由 h/i/θ 三个标量驱动，根本用不着深度网络消化 4000 步的原始波形。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65760" y="2304288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2304288"/>
            <a:ext cx="64008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2368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发现 2：深度模型连傻瓜基线都打不过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0352" y="27066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</a:rPr>
              <a:t>「取三条波平均、完全无视波形」的傻瓜基线 MAE=0.0469；v2 四个深度模型全部更差（MAE 0.0506~0.0572）。四模型 R²挤在 0.79~0.84，是瓶颈不在模型的经典信号。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365760" y="3511296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3511296"/>
            <a:ext cx="64008" cy="10972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" y="357530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发现 3：TAF_v 物理病态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0352" y="391363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1B2A4A"/>
                </a:solidFill>
              </a:rPr>
              <a:t>斜入射 SV 波下平地竖向 PGA 近零（约 1.15% 点&lt;10⁻³），分母趋零导致 TAF_v 最大值达 1.77×10¹¹。须专项稳健处理。</a:t>
            </a:r>
            <a:endParaRPr lang="en-US" sz="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II · v3 方案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新方案：物理特征 + POD 降维 + 经典 ML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从「消化原始时序」改为「提取领域物理标量」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16002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97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原始数据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(522 条曲线)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2344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160020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097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 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特征向量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12344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49040" y="1097280"/>
            <a:ext cx="160020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097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POD 降维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15 个系数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2344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0" y="1097280"/>
            <a:ext cx="16002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097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GPR 预测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86600" y="12344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7377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23760" y="1097280"/>
            <a:ext cx="1600200" cy="7772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10972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逆 POD 还原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161 点曲线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05740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057400"/>
            <a:ext cx="27432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几何特征（5维）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2423160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坡高 h, 坡角 i, 入射角 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log(h)（范围约 1~2.6 数量级）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tan(i)（替代角度线性编码）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205740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205740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波物理特征（11维）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46120" y="2423160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Arias 强度（总能量）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有效持时 D₅₋₉₅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卓越周期 Tp / 平均周期 Tm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PGV, PGD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反应谱 Sa(T) @ 5个代表周期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(注：PGA 为常数已剔除)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2057400"/>
            <a:ext cx="27432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43600" y="2057400"/>
            <a:ext cx="2743200" cy="3200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057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防过拟合评估策略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080760" y="2423160"/>
            <a:ext cx="2468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GroupKFold：同一地形 3 条波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同进同出训练/验证集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外推测试：留一波 / 留一高度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/ 留一角度（严苛分区验证）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GPR 自带预测不确定性带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II · 主要结果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GPR 全面超越 v2 所有深度模型（TAF_h）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两个里程碑：① 穿透傻瓜基线理论下限；② CPU 秒级训练，打败 GPU 小时级深度模型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078992"/>
            <a:ext cx="160020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0" y="11521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0.0244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66928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v3 GPR MAE（最优）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406640" y="1078992"/>
            <a:ext cx="132588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06640" y="115214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0.947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406640" y="16276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v3 GPR R²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669280" y="2148840"/>
            <a:ext cx="1600200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69280" y="22219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2.07×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669280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GPR 优于最强深度模型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(DeepONet)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406640" y="2148840"/>
            <a:ext cx="132588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406640" y="2221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CPU秒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406640" y="2697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训练成本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（vs GPU小时）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3200400"/>
          <a:ext cx="3063240" cy="16002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822960"/>
                <a:gridCol w="777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通道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v3 GPR R²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v3 GPR MAE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v2 最优 R²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TAF_h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0.946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0.0244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0.835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PGA_h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0.948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0.0131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0.823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PGA_v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0.977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0.0098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0.924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TAF_v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0.861*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0.547*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0.944*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5669280" y="482803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080"/>
                </a:solidFill>
              </a:rPr>
              <a:t>* TAF_v 两版评估口径不同（病态通道），不直接可比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II · 预测效果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GPR 预测效果：曲线形状捕捉精准，不确定性诚实示警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左：随机工况 TAF_h 曲线（FEM 真实 vs 预测）；右：留一波测试 GPR ±2σ 不确定性带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7" name="Image 0" descr="/sessions/friendly-youthful-davinci/mnt/AbqScripts/ML/outputs_v3/fig9_curve_comp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51560"/>
            <a:ext cx="4480560" cy="2880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3977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07080"/>
                </a:solidFill>
              </a:rPr>
              <a:t>图：6 个随机工况的 TAF_h 曲线（FEM 真实 vs 模型预测）</a:t>
            </a:r>
            <a:endParaRPr lang="en-US" sz="900" dirty="0"/>
          </a:p>
        </p:txBody>
      </p:sp>
      <p:pic>
        <p:nvPicPr>
          <p:cNvPr id="9" name="Image 1" descr="/sessions/friendly-youthful-davinci/mnt/AbqScripts/ML/outputs_v3/fig10_gpr_uncertain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92040" y="1051560"/>
            <a:ext cx="3931920" cy="2880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9204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07080"/>
                </a:solidFill>
              </a:rPr>
              <a:t>图：留一波测试下 GPR 预测 ±2σ 不确定性带（面对未见地震波时主动示警）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0040" y="4251960"/>
            <a:ext cx="8503920" cy="621792"/>
          </a:xfrm>
          <a:prstGeom prst="rect">
            <a:avLst/>
          </a:prstGeom>
          <a:solidFill>
            <a:srgbClr val="EAF4F4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429768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关键洞察：GPR 不仅精度最优，还提供运行时不确定性估计——离训练数据越远，预测区间自动扩大，避免对未知场景给出虚假自信的预测。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0" y="91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II · 适用域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645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外推适用域评估：内插可靠，边界外推失效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诚实量化模型边界，避免将适用范围外的结果误用于工程实践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7" name="Image 0" descr="/sessions/friendly-youthful-davinci/mnt/AbqScripts/ML/outputs_v3/fig12_extrapol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4663440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4297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07080"/>
                </a:solidFill>
              </a:rPr>
              <a:t>图：留一高度 &amp; 留一角度外推 R²/MAE 热力图（TAF_h）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051560"/>
          <a:ext cx="352044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777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测试场景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判断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标准 GroupKFold（内插）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0.946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优秀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留一角度（均值）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0.924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</a:rPr>
                        <a:t>稳健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留一高度 h=100m（内插）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</a:rPr>
                        <a:t>0.839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7377"/>
                          </a:solidFill>
                        </a:rPr>
                        <a:t>良好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留一高度 h=10m（下边界外插）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−6.83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崩溃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留一高度 h=400m（上边界外插）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0.02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崩溃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留一波（仅3条波）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</a:rPr>
                        <a:t>0.272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</a:rPr>
                        <a:t>波外推上限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212080" y="3749040"/>
            <a:ext cx="3520440" cy="1097280"/>
          </a:xfrm>
          <a:prstGeom prst="rect">
            <a:avLst/>
          </a:prstGeom>
          <a:solidFill>
            <a:srgbClr val="FFF8E1"/>
          </a:solidFill>
          <a:ln w="10160">
            <a:solidFill>
              <a:srgbClr val="E8A02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49240" y="382219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模型适用域（应明确声明）：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坡高 10–400 m 之间内插；入射角 0–30° 之间；地震波频谱与三条训练波相近。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</a:rPr>
              <a:t>范围外请配合 GPR 不确定性带判断可信度。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下一步工作计划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182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1783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07008"/>
            <a:ext cx="475488" cy="47548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11887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多地层有限元（Part I）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572768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① 完成 A/B/C/D 工况批量仿真（Autorun_paper_Shen2025_v2.py）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② 后处理：绘制 TAF 沿坡面分布图（Fig.8/9/11/12/13/15）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③ 与 Shen 等 (2025) 论文结果图定量对比验证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④ 双层模型（D 工况）批量计算及 Fig.15/16/17 复现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8412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063240"/>
            <a:ext cx="64008" cy="1783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172968"/>
            <a:ext cx="475488" cy="47548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72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315468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机器学习代理模型（Part II）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3538728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① 扩充数据集：将多地层（균质/双层）工况纳入训练，扩展 ML 适用范围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② 物理先验融入：尝试将阻抗比、覆盖层厚度作为新特征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③ 不确定性量化：GPR 预测区间与有限元误差的标定对比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</a:rPr>
              <a:t>④ 论文写作：方法节、结果节、讨论节撰写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681728"/>
            <a:ext cx="8412480" cy="256032"/>
          </a:xfrm>
          <a:prstGeom prst="rect">
            <a:avLst/>
          </a:prstGeom>
          <a:solidFill>
            <a:srgbClr val="EAF4F4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09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</a:rPr>
              <a:t>目标：本学期内完成多地层模型验证 + ML v3 报告投稿论文草稿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研究进展小结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60520" cy="1417320"/>
          </a:xfrm>
          <a:prstGeom prst="rect">
            <a:avLst/>
          </a:prstGeom>
          <a:solidFill>
            <a:srgbClr val="0D7377">
              <a:alpha val="15000"/>
            </a:srgbClr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71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 多地层模型 VAB v5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E8F0"/>
                </a:solidFill>
              </a:rPr>
              <a:t>四项物理修正（层内材料一致、网格自适应、时间步护栏、局限文档化）已完成；自由场引擎 v6 七项验证全部通过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37760" y="1280160"/>
            <a:ext cx="4160520" cy="1417320"/>
          </a:xfrm>
          <a:prstGeom prst="rect">
            <a:avLst/>
          </a:prstGeom>
          <a:solidFill>
            <a:srgbClr val="0D7377">
              <a:alpha val="15000"/>
            </a:srgbClr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371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 工况设计完备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7373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E8F0"/>
                </a:solidFill>
              </a:rPr>
              <a:t>对齐 Shen 等 (2025)：均质 A/B/C 54 个工况 + 双层 D 24 个工况，后处理脚本完整就绪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4160520" cy="1417320"/>
          </a:xfrm>
          <a:prstGeom prst="rect">
            <a:avLst/>
          </a:prstGeom>
          <a:solidFill>
            <a:srgbClr val="6EC6CA">
              <a:alpha val="15000"/>
            </a:srgbClr>
          </a:solidFill>
          <a:ln w="10160">
            <a:solidFill>
              <a:srgbClr val="6EC6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71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 ML v3 报告完成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E8F0"/>
                </a:solidFill>
              </a:rPr>
              <a:t>GPR（物理特征+POD降维）TAF_h R²=0.947，全面超越 v2 全部深度模型；训练成本从 GPU 小时降至 CPU 秒级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2880360"/>
            <a:ext cx="4160520" cy="1417320"/>
          </a:xfrm>
          <a:prstGeom prst="rect">
            <a:avLst/>
          </a:prstGeom>
          <a:solidFill>
            <a:srgbClr val="6EC6CA">
              <a:alpha val="15000"/>
            </a:srgbClr>
          </a:solidFill>
          <a:ln w="10160">
            <a:solidFill>
              <a:srgbClr val="6EC6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971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④ 诚实适用域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33375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E8F0"/>
                </a:solidFill>
              </a:rPr>
              <a:t>参数范围内插值 R²≈0.95；边界外推失效并由 GPR 不确定性带自动示警——适用域已明确量化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C0D8"/>
                </a:solidFill>
              </a:rPr>
              <a:t>感谢导师指导！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近期研究进展汇报</dc:title>
  <dc:subject>PptxGenJS Presentation</dc:subject>
  <dc:creator>研究汇报</dc:creator>
  <cp:lastModifiedBy>研究汇报</cp:lastModifiedBy>
  <cp:revision>1</cp:revision>
  <dcterms:created xsi:type="dcterms:W3CDTF">2026-06-10T02:20:49Z</dcterms:created>
  <dcterms:modified xsi:type="dcterms:W3CDTF">2026-06-10T02:20:49Z</dcterms:modified>
</cp:coreProperties>
</file>